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c2a1f430e64baf" /><Relationship Type="http://schemas.openxmlformats.org/officeDocument/2006/relationships/extended-properties" Target="/docProps/app.xml" Id="R96c4ed89341b4bf9" /><Relationship Type="http://schemas.openxmlformats.org/officeDocument/2006/relationships/officeDocument" Target="/ppt/presentation.xml" Id="R9afe43f83f7840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31c28d421e4c7a"/>
  </p:sldMasterIdLst>
  <p:notesMasterIdLst>
    <p:notesMasterId xmlns:r="http://schemas.openxmlformats.org/officeDocument/2006/relationships" r:id="Re74eab5d11ca4a5e"/>
  </p:notesMasterIdLst>
  <p:sldIdLst>
    <p:sldId xmlns:r="http://schemas.openxmlformats.org/officeDocument/2006/relationships" id="256" r:id="Rf2fedb4477c242df"/>
    <p:sldId xmlns:r="http://schemas.openxmlformats.org/officeDocument/2006/relationships" id="257" r:id="R75368515eac84f52"/>
    <p:sldId xmlns:r="http://schemas.openxmlformats.org/officeDocument/2006/relationships" id="258" r:id="R0d9038185c594331"/>
    <p:sldId xmlns:r="http://schemas.openxmlformats.org/officeDocument/2006/relationships" id="259" r:id="Rbfde631311c24466"/>
    <p:sldId xmlns:r="http://schemas.openxmlformats.org/officeDocument/2006/relationships" id="260" r:id="R08d0e3e10547439c"/>
    <p:sldId xmlns:r="http://schemas.openxmlformats.org/officeDocument/2006/relationships" id="261" r:id="R59cd679f640b477e"/>
    <p:sldId xmlns:r="http://schemas.openxmlformats.org/officeDocument/2006/relationships" id="262" r:id="R41754b93369f44e0"/>
    <p:sldId xmlns:r="http://schemas.openxmlformats.org/officeDocument/2006/relationships" id="263" r:id="R1fd0b4ac5c184d32"/>
    <p:sldId xmlns:r="http://schemas.openxmlformats.org/officeDocument/2006/relationships" id="264" r:id="Rb6ca6d487d724f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eb9c7d36764a79" /><Relationship Type="http://schemas.openxmlformats.org/officeDocument/2006/relationships/slideMaster" Target="/ppt/slideMasters/slideMaster1.xml" Id="Rbb31c28d421e4c7a" /><Relationship Type="http://schemas.openxmlformats.org/officeDocument/2006/relationships/notesMaster" Target="/ppt/notesMasters/notesMaster1.xml" Id="Re74eab5d11ca4a5e" /><Relationship Type="http://schemas.openxmlformats.org/officeDocument/2006/relationships/presProps" Target="/ppt/presProps.xml" Id="R2bd9277ca2df41b0" /><Relationship Type="http://schemas.openxmlformats.org/officeDocument/2006/relationships/tableStyles" Target="/ppt/tableStyles.xml" Id="R11cc63de47144e99" /><Relationship Type="http://schemas.openxmlformats.org/officeDocument/2006/relationships/slide" Target="/ppt/slides/slide1.xml" Id="Rf2fedb4477c242df" /><Relationship Type="http://schemas.openxmlformats.org/officeDocument/2006/relationships/slide" Target="/ppt/slides/slide2.xml" Id="R75368515eac84f52" /><Relationship Type="http://schemas.openxmlformats.org/officeDocument/2006/relationships/slide" Target="/ppt/slides/slide3.xml" Id="R0d9038185c594331" /><Relationship Type="http://schemas.openxmlformats.org/officeDocument/2006/relationships/slide" Target="/ppt/slides/slide4.xml" Id="Rbfde631311c24466" /><Relationship Type="http://schemas.openxmlformats.org/officeDocument/2006/relationships/slide" Target="/ppt/slides/slide5.xml" Id="R08d0e3e10547439c" /><Relationship Type="http://schemas.openxmlformats.org/officeDocument/2006/relationships/slide" Target="/ppt/slides/slide6.xml" Id="R59cd679f640b477e" /><Relationship Type="http://schemas.openxmlformats.org/officeDocument/2006/relationships/slide" Target="/ppt/slides/slide7.xml" Id="R41754b93369f44e0" /><Relationship Type="http://schemas.openxmlformats.org/officeDocument/2006/relationships/slide" Target="/ppt/slides/slide8.xml" Id="R1fd0b4ac5c184d32" /><Relationship Type="http://schemas.openxmlformats.org/officeDocument/2006/relationships/slide" Target="/ppt/slides/slide9.xml" Id="Rb6ca6d487d724f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ad5ae45b2d4a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94050a431a4947" /><Relationship Type="http://schemas.openxmlformats.org/officeDocument/2006/relationships/notesMaster" Target="/ppt/notesMasters/notesMaster1.xml" Id="R0f47940777c241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6fe52357904d0a" /><Relationship Type="http://schemas.openxmlformats.org/officeDocument/2006/relationships/notesMaster" Target="/ppt/notesMasters/notesMaster1.xml" Id="R349f7a0b03854ec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91e4e1eb774b76" /><Relationship Type="http://schemas.openxmlformats.org/officeDocument/2006/relationships/notesMaster" Target="/ppt/notesMasters/notesMaster1.xml" Id="Rb518f9a916f74e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29847cfc954047" /><Relationship Type="http://schemas.openxmlformats.org/officeDocument/2006/relationships/notesMaster" Target="/ppt/notesMasters/notesMaster1.xml" Id="R66f69fc1b43c4b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979fa7b5ca4607" /><Relationship Type="http://schemas.openxmlformats.org/officeDocument/2006/relationships/notesMaster" Target="/ppt/notesMasters/notesMaster1.xml" Id="R8cd4e80bcdc040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2d6c6f48424067" /><Relationship Type="http://schemas.openxmlformats.org/officeDocument/2006/relationships/notesMaster" Target="/ppt/notesMasters/notesMaster1.xml" Id="Ra58033eae76048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b99ae3f15d43cf" /><Relationship Type="http://schemas.openxmlformats.org/officeDocument/2006/relationships/notesMaster" Target="/ppt/notesMasters/notesMaster1.xml" Id="R98f4d41ae83b48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8daaa5517b4c93" /><Relationship Type="http://schemas.openxmlformats.org/officeDocument/2006/relationships/notesMaster" Target="/ppt/notesMasters/notesMaster1.xml" Id="Ra4beac63f8c845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3f19d2b2f44681" /><Relationship Type="http://schemas.openxmlformats.org/officeDocument/2006/relationships/notesMaster" Target="/ppt/notesMasters/notesMaster1.xml" Id="R0f811177a33244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61a36fb2c84b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26041061cc4cc9" /><Relationship Type="http://schemas.openxmlformats.org/officeDocument/2006/relationships/slideLayout" Target="/ppt/slideLayouts/slideLayout1.xml" Id="Ra21794c14c3e4d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1794c14c3e4d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ee204d836d4687" /><Relationship Type="http://schemas.openxmlformats.org/officeDocument/2006/relationships/notesSlide" Target="/ppt/notesSlides/notesSlide1.xml" Id="R81fc5e2c3bf341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ebc260a544d85" /><Relationship Type="http://schemas.openxmlformats.org/officeDocument/2006/relationships/notesSlide" Target="/ppt/notesSlides/notesSlide2.xml" Id="R79c2172b313343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ece7c79a348f4" /><Relationship Type="http://schemas.openxmlformats.org/officeDocument/2006/relationships/notesSlide" Target="/ppt/notesSlides/notesSlide3.xml" Id="R15760a9b5e5346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7664c5bf447db" /><Relationship Type="http://schemas.openxmlformats.org/officeDocument/2006/relationships/notesSlide" Target="/ppt/notesSlides/notesSlide4.xml" Id="R97183eb2056d4b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d1404601b4592" /><Relationship Type="http://schemas.openxmlformats.org/officeDocument/2006/relationships/notesSlide" Target="/ppt/notesSlides/notesSlide5.xml" Id="R043746168c9543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be13048fe4fce" /><Relationship Type="http://schemas.openxmlformats.org/officeDocument/2006/relationships/notesSlide" Target="/ppt/notesSlides/notesSlide6.xml" Id="R5795806079e94f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6aabcbeae4e3c" /><Relationship Type="http://schemas.openxmlformats.org/officeDocument/2006/relationships/notesSlide" Target="/ppt/notesSlides/notesSlide7.xml" Id="R55683519417e4d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47db48895406a" /><Relationship Type="http://schemas.openxmlformats.org/officeDocument/2006/relationships/notesSlide" Target="/ppt/notesSlides/notesSlide8.xml" Id="Ra7d2db118e2b45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4cb628dfd4540" /><Relationship Type="http://schemas.openxmlformats.org/officeDocument/2006/relationships/notesSlide" Target="/ppt/notesSlides/notesSlide9.xml" Id="R9b460e37581b470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7FC8E-3000-44B7-B458-916DB632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858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Compact LSTM experiments for hourly stock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1E6EF-859A-461A-877B-06A1606B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790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55555"/>
                </a:solidFill>
              </a:defRPr>
            </a:pPr>
            <a:r>
              <a:rPr sz="1875" b="0">
                <a:solidFill>
                  <a:srgbClr val="555555"/>
                </a:solidFill>
              </a:rPr>
              <a:t>FreshRetailNet-50K | Top 15 SKUs | Updated with ultra-compact LSTM tests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1D3872-E4C3-4B79-B801-356948C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2476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2C312-FCDF-400D-9532-B514F24A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0.790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2DFEDA-17BD-45A1-BCBA-B5F083F9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Best compact LSTM F1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FC740-4D33-4084-BD97-6B34B103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95750"/>
            <a:ext cx="2476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5F555-73BF-486B-B6BA-B0F5E45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0530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5,912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139D4-D329-4543-990C-BBCA0E05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720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Best compact params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B4754A-0717-4681-B336-28C147F8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95750"/>
            <a:ext cx="2476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D9CC8-54B3-46F2-8CF1-7DEF39CE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205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1,944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DBAD2-87E2-427A-8ACD-5DA496E0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720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Ultra-light params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92CB3C-6FE8-4C87-9314-2D5667DA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1771650" cy="556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3F64B-DC85-4556-9969-68559C26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781050"/>
            <a:ext cx="1295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BTP meeting deck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E69E1-D61F-48AF-AD20-9CADA471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762500"/>
            <a:ext cx="1295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DEDED"/>
                </a:solidFill>
              </a:defRPr>
            </a:pPr>
            <a:r>
              <a:rPr sz="1275" b="0">
                <a:solidFill>
                  <a:srgbClr val="EDEDED"/>
                </a:solidFill>
              </a:rPr>
              <a:t>Updated after ultra-compact ablation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2D7FB-C1FF-4111-98A7-F95A7D5D7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FreshRetailNet-50K LSTM experiments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9B07A9-8ECC-42B8-A18F-B69C74A9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79572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E258B1-AF7E-430D-AF55-07F14CD3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task moved from static backorder data to time-series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E172F-C13B-412E-8BEE-D211AB38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18EA1-C23D-4162-8314-F64D1AB5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FreshRetailNet-50K LSTM experiments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C5C800-6F26-476C-940A-21D4C011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72DF4-01C5-4639-BEEE-3A8FC65C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Why FreshRetailNet-50K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A1BB52-C195-48C6-A1DA-1D16973E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94A92-7E2E-4C99-87CB-2D660A5C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493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Static C1 data helped reproduce a baseline, but it did not model history.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9FC07-15B2-4C0D-AA11-68C96323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71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3517A-0634-4D53-9EEE-F3F6CBE8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493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FreshRetailNet gives SKU-store timelines with daily rows and hourly stock status.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E07AB-516A-4C09-818D-6EC48B28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24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5E0D0-B8CA-4495-A60F-08FE4B37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933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This lets us predict future stock behavior using recent temporal patterns.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0B6B51-7081-4809-86C3-22DF1EAE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4953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54196-9840-428E-9FB6-454160D8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Prediction setup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A7B76-D349-476B-A7D0-EF1A6CA7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1905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6D6AC-B7BC-4C5D-883B-FAE77B86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908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15 SKUs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7829F-6549-4F54-B0C6-19BBD0AC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242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Selected items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1CC059-B76F-4156-8B01-51DA08052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1905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BF10DC-142D-487C-AAEF-1A3C0EBF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908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14 days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1CE8F0-39AA-4F4C-B671-F0C44C3E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242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Input history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D5AD8-8AA1-4F69-BDEE-4E8463AB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1905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BED2ED-29F8-41A4-AB38-699797A03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100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15 days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B950FD-FCFF-42E9-8D9A-ABE82C63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434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Holdout period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F69674-7FD6-4D89-B613-A2133455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1905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EA8F16-70AE-493F-8EF9-639BDB94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10050"/>
            <a:ext cx="1485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</a:defRPr>
            </a:pPr>
            <a:r>
              <a:rPr sz="2475" b="1">
                <a:solidFill>
                  <a:srgbClr val="000000"/>
                </a:solidFill>
              </a:rPr>
              <a:t>24 values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DDC317-129A-45F0-83F6-14D5F9A9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543425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Target</a:t>
            </a:r>
          </a:p>
        </p:txBody>
      </p:sp>
    </p:spTree>
    <p:extLst>
      <p:ext uri="{BB962C8B-B14F-4D97-AF65-F5344CB8AC3E}">
        <p14:creationId xmlns:p14="http://schemas.microsoft.com/office/powerpoint/2010/main" val="8994070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F34F76-0036-4327-BF20-A6234A88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Each LSTM sample is a sliding 14-day window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2DA30-AC98-415E-AC9B-25650E5B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F2B58-6E78-443B-820E-F73A2716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FreshRetailNet-50K LSTM experiments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5B9F39-868C-4442-992D-D35A5D7E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22320-AD99-4B17-9E69-AB78FEC8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Input tensor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EAC82-3412-480D-B6C9-94946F32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batch_size × 14 days × 13 features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57951-AF19-487E-8ABD-CBF85DC1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718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For every selected SKU-store series, the model sees a moving history window and predicts the next day.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08962-16A1-4262-9AE1-736C7CC2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228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D1C16-62AA-4FC5-9F1A-8E591921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228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B15CFC-2F0B-4A74-9DFF-35AF658D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90750"/>
            <a:ext cx="228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02793-5C72-48F1-977C-4FF2C207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228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C04D6-94FC-4573-9444-3A565E8C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90750"/>
            <a:ext cx="228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8F0B96-224D-4FC2-B4C0-2F47FE65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90750"/>
            <a:ext cx="228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6EBEA-B383-4B51-834E-606C5B1A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228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7FF61-D2C2-453B-987B-D226A8D9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90750"/>
            <a:ext cx="228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F8539-5064-42CC-8A9B-D8C65162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90750"/>
            <a:ext cx="228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81BCE-DD66-4970-BFA0-441B4328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228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119F2D-6DC5-4204-A968-B7D8A649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228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53E034-99C4-486A-9A13-C401A66E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90750"/>
            <a:ext cx="228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5A1B64-1050-4ACE-A3F1-78757B26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190750"/>
            <a:ext cx="228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0538F0-2586-4C2E-85B3-40D06D5D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190750"/>
            <a:ext cx="2286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2D97C-A82B-4F67-90D2-F1491ED3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86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Days 1-14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F7D747-A6E1-4189-BB5B-02A4BDB0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47950"/>
            <a:ext cx="552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5D0166-FDE7-4E90-931C-72A3905B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289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24h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285945-F0BB-4E72-9789-ECDB3EB7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862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Next day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D92152-17AE-43B2-BB75-877DCE22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Features include sales, prior stockout hours, discount, holiday, weather and hourly summaries.</a:t>
            </a:r>
          </a:p>
        </p:txBody>
      </p:sp>
    </p:spTree>
    <p:extLst>
      <p:ext uri="{BB962C8B-B14F-4D97-AF65-F5344CB8AC3E}">
        <p14:creationId xmlns:p14="http://schemas.microsoft.com/office/powerpoint/2010/main" val="1053758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C28860-20F3-4C3A-87FF-3FD9F84B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standard LSTM works, but it is not automatically justified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8EDBA-2425-442E-A644-CCA13DB2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582358-D9AC-4E6B-B890-D3CDDF30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FreshRetailNet-50K LSTM experiments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C61DF-3EDB-4C15-BBAE-9E38F841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BEAF8-56C3-428D-B6CC-3B77BEAD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2A554E-A05A-4DF4-BA48-0410DD24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0.785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F450A-7070-4501-9FB2-268418CB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Hour-level F1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E185E-4E0E-4810-93B6-07753834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764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D51DA-DAC7-4B11-9188-14C1B710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860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0.804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A80F2-3E52-4F8E-8E02-F33405CA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9337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696D9E-8A43-4B24-A048-6F639FC0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764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3F01D-BD14-4B14-B600-4C600661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860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44,952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792D55-7399-4936-B820-4B6BD5A8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337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Parameters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1B5C6-0BF0-43C1-91F0-31DD54A8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764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CD7395-9AEA-4231-85A6-F6FADDB2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860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0.302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F01DDC-E02B-43D7-83E8-8DDAA33E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Exact 24h 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163134-9E52-403F-BC2C-F237ECC8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The model predicts individual hours reasonably well, but the mentor's concern is valid: for a 14-day window, a full LSTM may be more complex than necessary.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A1D76-B81A-4DB9-B6D2-CE83F8F8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This led to a complexity ablation instead of simply defending the largest LSTM.</a:t>
            </a:r>
          </a:p>
        </p:txBody>
      </p:sp>
    </p:spTree>
    <p:extLst>
      <p:ext uri="{BB962C8B-B14F-4D97-AF65-F5344CB8AC3E}">
        <p14:creationId xmlns:p14="http://schemas.microsoft.com/office/powerpoint/2010/main" val="4518675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33ACBD-C46A-4BEE-A03F-E2C62B28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We tested four ways to simplify the LSTM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BB62C-19D3-4C7E-A86F-8E5F5FAB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86C51B-5771-42AB-998B-390BBBB9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FreshRetailNet-50K LSTM experiments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FAA54-9625-473C-8390-91F144CB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6EF28-DB43-4C5E-A5C6-D6E3B1C7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D43A0-5A5C-4951-B475-CB9C1B7D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C0E79-5B7A-4FFD-8EE7-DCA4A504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Reduce hidden size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0909B-0F80-4F9A-A53B-E3D6FDB7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96 → 64 → 32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Tests if less memory is enough.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5A4A9-D001-4D01-BE2D-AD5014EE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143125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C9CB6-0CAE-4AEF-8B2A-A9BFBE66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8125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5B931-7748-4DFE-BD8F-1E639B21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105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Shorten 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21DBC3-FF18-498C-ADEC-ED72525D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7338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14 → 10 → 7 days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Tests whether 14 days is excessive.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9F56A-A445-40BF-AA8B-43D7F852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C36154-89A7-4F39-8B08-6FBEE754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9D5BE-1E05-46D2-90C0-471120FB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05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Reduce features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B1585-697D-434C-BCA7-61A8E48E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338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13 → 6 features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Keeps only strong stockout signals.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06ACCA-2CE8-4734-BF50-8E24BC29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143125"/>
            <a:ext cx="2476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15A2E4-B2B4-44A9-B96E-2BE0FE98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381250"/>
            <a:ext cx="438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57792-0CD1-4983-87AC-76B9FD3C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1051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Ultra-compact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4896C9-5215-43C9-B4EF-EE422ADA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7338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h16, h8, 4 features</a:t>
            </a:r>
          </a:p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Tests the lower complexity bound.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2BA62-D763-4B5B-B4D8-3D126D90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All variants used the same top 15 SKUs, 15-day holdout and 24-hour output target.</a:t>
            </a:r>
          </a:p>
        </p:txBody>
      </p:sp>
    </p:spTree>
    <p:extLst>
      <p:ext uri="{BB962C8B-B14F-4D97-AF65-F5344CB8AC3E}">
        <p14:creationId xmlns:p14="http://schemas.microsoft.com/office/powerpoint/2010/main" val="21186055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FE7A24-E39A-4E2A-AC08-4FD254AE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compact h32 model remains the best performance-complexity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256D6-BB86-49A3-9DEA-1A7FD61B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AD0C4-F4F0-4B5E-BED9-1A3DA657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FreshRetailNet-50K LSTM experiments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1FE79-B9FE-43B0-A992-F65956E5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01139-82E9-499B-9E75-386B604D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9286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5E10B-EBEB-4518-A220-3E3625CE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490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Variant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F964C9-913F-4B53-8430-D2112640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0383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Params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1C55C-C963-4249-9B09-4BF073C6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383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Best F1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7F8D5-622D-408D-B4BD-AD665841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383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0000"/>
                </a:solidFill>
              </a:defRPr>
            </a:pPr>
            <a:r>
              <a:rPr sz="1125" b="1">
                <a:solidFill>
                  <a:srgbClr val="000000"/>
                </a:solidFill>
              </a:rPr>
              <a:t>Recall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E8E19-5E37-4A06-9599-8E341A94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9825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F77AC-DFA6-4A76-831D-94C7AA0F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95550"/>
            <a:ext cx="490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Standard LSTM h96, 13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DB63D-911E-4DA1-B180-1C5C021F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4955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44,952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0D71A9-6EFE-4A2B-B0B1-C2C4BA95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955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0.785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EC6BD4-7C06-495E-88D1-68F140FD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955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0.804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9706C-F439-4034-84D4-AD7DEDD1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67025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A3EC7-903B-459A-837F-BB4B9689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952750"/>
            <a:ext cx="490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Reduced features h64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D5C8E-6F9A-4F84-BEE0-8E407BD4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9527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19,992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A4FCD-CF9C-4F1E-A496-593DBF37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9527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0.788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8D2E26-D68C-4AC8-84AC-A047F6550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527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0.816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1948A1-E2E2-40C6-B660-A9A129C9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24225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1BE383-FB9E-4B03-BB8C-A4A6AF8A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09950"/>
            <a:ext cx="490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Reduced features h32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EC2B25-69BE-4407-B9EF-647AEFC7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4099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5,912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B69F00-B50C-4212-8391-197F1E52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4099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0.790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CCF005-9692-4DBD-A4BA-A686C0CC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099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F6B35"/>
                </a:solidFill>
              </a:defRPr>
            </a:pPr>
            <a:r>
              <a:rPr sz="1125" b="1">
                <a:solidFill>
                  <a:srgbClr val="FF6B35"/>
                </a:solidFill>
              </a:rPr>
              <a:t>0.813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ECE92E-214D-4D20-8A25-07D2475B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81425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BC4468-5553-471A-83C5-A44B6CC4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67150"/>
            <a:ext cx="490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Ultra h16, 6 features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7D4381-1BD5-415C-B725-64A3218D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8671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1,944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CC1F80-580D-43BB-9A2B-0CFA6339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8671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0.741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890CB3-69B7-4209-ADE9-9685E4E6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671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0.845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837366-D942-453B-A1AF-41032A5A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38625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52E2E-E9A3-4F20-B78E-58CCC726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24350"/>
            <a:ext cx="490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Ultra h8, 6 features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2B0290-7CA3-4F7C-9E92-6561062C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3243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728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6005A1-F5FE-414B-A045-F0F22853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3243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0.647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039AAE-36A6-42F4-AF4B-7FBAB069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0.924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441D93-C7EE-4F5E-B9FF-99902349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5C6C0A-8F35-476C-A5A6-E835C0B5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81550"/>
            <a:ext cx="490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Ultra h16, 4 features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2CDE98-0D5C-4477-B369-46276947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47815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1,816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4F858A-8EDB-490F-B4EA-8A9F0216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7815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0.746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0C6963-6E9E-401D-8EB4-D65A8BB5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815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0.728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A184D3-844A-4E55-8DBF-77A20E47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53025"/>
            <a:ext cx="9286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1F1519-0D55-4BEE-ACD2-D5FC4CCAB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0"/>
            <a:ext cx="4905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Ultra h16, 7-day window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DA49673-CE66-4E7F-B33A-B6C5794A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2387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1,944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C3F606-1152-4E85-B760-032AF1A0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2387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0.759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8B037F-E301-4415-82C0-EF67D094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238750"/>
            <a:ext cx="1190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000000"/>
                </a:solidFill>
              </a:defRPr>
            </a:pPr>
            <a:r>
              <a:rPr sz="1125" b="0">
                <a:solidFill>
                  <a:srgbClr val="000000"/>
                </a:solidFill>
              </a:rPr>
              <a:t>0.742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4BDDE0-3C41-4A9A-8D7C-68745F5D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Ultra-small LSTMs reduce parameters further, but they give up too much F1.</a:t>
            </a:r>
          </a:p>
        </p:txBody>
      </p:sp>
    </p:spTree>
    <p:extLst>
      <p:ext uri="{BB962C8B-B14F-4D97-AF65-F5344CB8AC3E}">
        <p14:creationId xmlns:p14="http://schemas.microsoft.com/office/powerpoint/2010/main" val="3975893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C93D56-CA11-4A8F-89F1-EC056F02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Ultra-compact tests reveal LSTM's limit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43084-658C-4C45-BF8F-BB7DC888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F6337-7C33-4A51-B548-897717D3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FreshRetailNet-50K LSTM experiments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D47B6-E1D9-4B56-B105-E2F8D1D4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29625-CE92-4372-BA51-274ECA30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Practical minimum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B3D52-D432-49EC-82AD-1F4668F3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EBA9A-BDBA-4B66-A59D-980B9374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5,912 params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A1D2F-C0C0-4DB4-B2D7-DC67F039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Compact h32, 6 features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3B2ED-E6C5-4F1B-855D-9751CC95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812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D03F4-1083-408A-B62C-8E416DF9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908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0.790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384C0-2C68-41D6-9C8E-63DFAA71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670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Best F1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701C1-973F-414F-A564-ED369BDB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5555"/>
                </a:solidFill>
              </a:defRPr>
            </a:pPr>
            <a:r>
              <a:rPr sz="1800" b="1">
                <a:solidFill>
                  <a:srgbClr val="555555"/>
                </a:solidFill>
              </a:rPr>
              <a:t>Lower bound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F91F24-6E50-4D76-93A9-84AEC47C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81250"/>
            <a:ext cx="2381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D3E48-266C-402C-9B9D-E0C5A42B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5908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728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F60C8-0F4B-4F6A-9928-9D2D68BB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67050"/>
            <a:ext cx="1962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params, ultra h8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BEA326-91F2-476A-BA3E-63A4575B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7621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F7056E-D454-4B33-9478-2738C717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90800"/>
            <a:ext cx="1343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0.647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A81CD-4852-45A3-A386-874A21F6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67050"/>
            <a:ext cx="13430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F1 after shrinking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1E0DF1-E279-4B82-9794-BE5E76CD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668B7-2ACB-4086-9A9C-76D02535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33875"/>
            <a:ext cx="988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h16 can reduce parameters to ~1.9k, but F1 falls to 0.741-0.759.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079A98-A96C-40F0-92BF-35DAC37F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55F05-FA6D-4640-BC71-765D5E6B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91075"/>
            <a:ext cx="988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h8 is very small, but recall-heavy and weak on balanced F1.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A5D2CF-D523-4A6B-A134-BBF382FA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8DC304-83FD-426D-994B-C4A3B7A5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48275"/>
            <a:ext cx="988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</a:rPr>
              <a:t>The h32 + 6-feature LSTM is the practical minimum before major F1 loss.</a:t>
            </a:r>
          </a:p>
        </p:txBody>
      </p:sp>
    </p:spTree>
    <p:extLst>
      <p:ext uri="{BB962C8B-B14F-4D97-AF65-F5344CB8AC3E}">
        <p14:creationId xmlns:p14="http://schemas.microsoft.com/office/powerpoint/2010/main" val="5214755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E74D4E-AB23-49AF-AEAE-B93E6A40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The compact LSTM cuts parameters by about 87 percent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4EED5-EEE7-4473-9368-FF2B2FB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F6DE9-7A4D-49C0-8F3C-70201928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FreshRetailNet-50K LSTM experiments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EFD8D-22BC-465A-961E-F4E9283E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8971B3-4BDA-4337-835E-E96377F6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Standard LSTM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D9490-D285-4D3B-9ADC-DA571483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05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7333E-E13C-4017-9728-DDE3C3F0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050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23EF1-7556-4A7E-BCF6-5401AECB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669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0000"/>
                </a:solidFill>
              </a:defRPr>
            </a:pPr>
            <a:r>
              <a:rPr sz="1275" b="1">
                <a:solidFill>
                  <a:srgbClr val="000000"/>
                </a:solidFill>
              </a:rPr>
              <a:t>44,952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76BAA-54D0-44E6-B674-EE891621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Compact reduced LSTM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8FB6E-532E-4A2F-8B30-6356C2CD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718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7855A-66E6-4287-A6E8-B066E56F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71800"/>
            <a:ext cx="52613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E2088-C918-4445-9B27-814A8385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33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5,912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B80BC-9F93-486F-8BEF-70449A1D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Ultra h16 reduced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2752C-6ECA-4B31-B979-787D6B2B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93DC6-4A61-4A4E-9798-03C367C3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17300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9280D-552E-466B-BF62-05E871E8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004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77777"/>
                </a:solidFill>
              </a:defRPr>
            </a:pPr>
            <a:r>
              <a:rPr sz="1275" b="1">
                <a:solidFill>
                  <a:srgbClr val="777777"/>
                </a:solidFill>
              </a:rPr>
              <a:t>1,944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F4F97-9F3F-4C51-813F-B1F62A34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B1BC41-560E-4904-9F37-EA491870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720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0.785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BC0F1-0EDD-4A76-90C6-7BA85F4C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530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Standard F1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45F0EF-57E6-416A-982D-680B2DB2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76250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1B04A0-EB9B-477B-BB4B-24F0903D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9720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6B35"/>
                </a:solidFill>
              </a:defRPr>
            </a:pPr>
            <a:r>
              <a:rPr sz="2850" b="1">
                <a:solidFill>
                  <a:srgbClr val="FF6B35"/>
                </a:solidFill>
              </a:rPr>
              <a:t>0.790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8265E4-A36F-450C-9DA5-A1E8D756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3530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Compact F1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BFF99B-2D56-4CF3-AED0-3D3118A3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762500"/>
            <a:ext cx="2095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F44161-7C81-4FD3-8A63-F12317CF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720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0.741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515821-F5AB-4AEB-9F68-01CDC05D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35305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Ultra h16 F1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ED429A-CDF1-41F8-ADE0-CCDDF1E2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Conclusion: h32 + 6 features is the best LSTM candidate; h16 is a fallback only if parameter count matters more than F1.</a:t>
            </a:r>
          </a:p>
        </p:txBody>
      </p:sp>
    </p:spTree>
    <p:extLst>
      <p:ext uri="{BB962C8B-B14F-4D97-AF65-F5344CB8AC3E}">
        <p14:creationId xmlns:p14="http://schemas.microsoft.com/office/powerpoint/2010/main" val="122565882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E0E86-05C1-48F9-ACFB-2088F681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Next decision: compare compact LSTM against the RNN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04B316-C933-406F-89A6-540BD96F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B3284-47BE-4520-B023-D4368F89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FreshRetailNet-50K LSTM experiments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9CFC4-FBC5-4E06-841B-0ACB3319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38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7CF1A-2663-4826-8F8A-EB519A43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Recommendation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BA5E0-D5AA-46D7-9AFA-58C98864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A5826-95B6-426C-8A5B-70772C05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560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Do not present standard LSTM as the final answer.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5077D-5AA8-4880-AE7D-5A09A228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0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64187-D582-43A3-AEB9-FD56333D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60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Use h32 + 6 features as the best LSTM candidate.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E24312-D6FF-4878-8AE2-33C21269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F612D9-4090-49C6-8E54-8CF0C9F5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560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Keep h16 as an ultra-light fallback, not as the preferred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B6E37-1513-411D-845F-B53331F7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672DB-3D43-48D2-823F-7B0F52E7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560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Compare directly with teammate's RNN under the same setup.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F40256-CA4D-464A-9D9C-572E54BA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4000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802C2-26A6-4B46-8422-134E23B9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81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Decision rule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9DEB5-B15B-43ED-98A5-02F6E508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09900"/>
            <a:ext cx="3238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</a:rPr>
              <a:t>If RNN matches h32 compact LSTM with fewer parameters, choose RNN. If compact LSTM gives better F1 or recall at comparable cost, keep compact LSTM.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3B3F77-E80F-4E54-B8C4-FF20D3D9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35"/>
                </a:solidFill>
              </a:defRPr>
            </a:pPr>
            <a:r>
              <a:rPr sz="1725" b="1">
                <a:solidFill>
                  <a:srgbClr val="FF6B35"/>
                </a:solidFill>
              </a:rPr>
              <a:t>This keeps the final model choice evidence-led rather than model-led.</a:t>
            </a:r>
          </a:p>
        </p:txBody>
      </p:sp>
    </p:spTree>
    <p:extLst>
      <p:ext uri="{BB962C8B-B14F-4D97-AF65-F5344CB8AC3E}">
        <p14:creationId xmlns:p14="http://schemas.microsoft.com/office/powerpoint/2010/main" val="14053387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2026-08-04T15:21:42.2260000Z</dcterms:created>
  <dcterms:modified xsi:type="dcterms:W3CDTF">2026-08-04T15:21:42.2260000Z</dcterms:modified>
</coreProperties>
</file>